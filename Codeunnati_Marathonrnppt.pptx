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7" r:id="rId1"/>
  </p:sldMasterIdLst>
  <p:notesMasterIdLst>
    <p:notesMasterId r:id="rId13"/>
  </p:notesMasterIdLst>
  <p:sldIdLst>
    <p:sldId id="1298" r:id="rId2"/>
    <p:sldId id="1304" r:id="rId3"/>
    <p:sldId id="1303" r:id="rId4"/>
    <p:sldId id="1302" r:id="rId5"/>
    <p:sldId id="1307" r:id="rId6"/>
    <p:sldId id="1311" r:id="rId7"/>
    <p:sldId id="1306" r:id="rId8"/>
    <p:sldId id="1308" r:id="rId9"/>
    <p:sldId id="1310" r:id="rId10"/>
    <p:sldId id="267" r:id="rId11"/>
    <p:sldId id="271" r:id="rId12"/>
  </p:sldIdLst>
  <p:sldSz cx="12192000" cy="6858000"/>
  <p:notesSz cx="12192000" cy="6858000"/>
  <p:custDataLst>
    <p:tags r:id="rId14"/>
  </p:custData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151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4" orient="horz" pos="93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89BF30E-20C8-9208-5630-99B93775582F}" name="Neha Maheshwari" initials="NM" userId="S::neha@edunetfoundation.org::8c84accf-0c37-4353-a3c4-b0578e30e5e4" providerId="AD"/>
  <p188:author id="{BD458232-9C64-883B-B2F5-BCAB8DE971E8}" name="Harkiran Kaur Sitara" initials="HS" userId="S::hkaur@edunetfoundation.org::6d6a57b8-bd9a-471a-8916-dfd72a492427" providerId="AD"/>
  <p188:author id="{78B32D43-D2AB-B8CA-37BA-5E9C3DA551F3}" name="Rashmi Vohra" initials="RV" userId="S::rashmi@edunetfoundation.org::dd83c91e-93ca-49ae-a15c-c42dcb61dd1f" providerId="AD"/>
  <p188:author id="{BA51AE4F-61DD-94CA-CD1C-118C96695E29}" name="Serena Joseph" initials="SJ" userId="S::sjoseph@edunetfoundation.org::fec52140-248b-4b05-a802-736c5c36edd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163"/>
    <a:srgbClr val="FFC509"/>
    <a:srgbClr val="FFF3CD"/>
    <a:srgbClr val="3333FF"/>
    <a:srgbClr val="DFEEFD"/>
    <a:srgbClr val="55A3F3"/>
    <a:srgbClr val="A4A3A4"/>
    <a:srgbClr val="629AF4"/>
    <a:srgbClr val="E67450"/>
    <a:srgbClr val="EB4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9E0BAB-E0CB-D079-357C-856FBE07D8AB}" v="21" dt="2025-12-08T07:59:44.388"/>
    <p1510:client id="{F779CED3-26E9-3030-20EC-5C62617657A2}" v="27" dt="2025-12-09T04:14:35.47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1512"/>
        <p:guide pos="312"/>
        <p:guide orient="horz" pos="9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7DA4AA-0FF9-453D-94EE-83C1792FCA55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60CB1-A81F-4EE9-B081-19C290D466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38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3091F-CDAA-02D2-C005-8C8DE5A92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BD7E5-D933-E5F7-D072-E39FDE874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E70718-A33A-A493-3DD6-D0F89C9415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Duration: 5 min</a:t>
            </a:r>
            <a:endParaRPr lang="en-US"/>
          </a:p>
          <a:p>
            <a:r>
              <a:rPr lang="en-US" b="1"/>
              <a:t>Objective: To get an insight about Design Thinking</a:t>
            </a:r>
            <a:endParaRPr lang="en-US"/>
          </a:p>
          <a:p>
            <a:r>
              <a:rPr lang="en-US" b="1"/>
              <a:t>Procedure:</a:t>
            </a:r>
            <a:endParaRPr lang="en-US"/>
          </a:p>
          <a:p>
            <a:r>
              <a:rPr lang="en-US" b="1"/>
              <a:t>Explanation:</a:t>
            </a:r>
            <a:endParaRPr lang="en-US" b="1">
              <a:cs typeface="Calibri"/>
            </a:endParaRPr>
          </a:p>
          <a:p>
            <a:r>
              <a:rPr lang="en-US" b="1"/>
              <a:t>Introduce the topic "Design Thinking"</a:t>
            </a:r>
            <a:r>
              <a:rPr lang="en-US"/>
              <a:t> </a:t>
            </a:r>
            <a:endParaRPr lang="en-US"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Design thinking is a creative approach to problem-solving that puts people at the center. </a:t>
            </a:r>
            <a:endParaRPr lang="en-US"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It starts with understanding the needs of those who will use what you're designing.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Then, it involves brainstorming ideas, prototyping solutions, and testing them to see what works best.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It's about being open-minded, collaborative, and willing to try new things to come up with innovative solutions that really fit people's needs.</a:t>
            </a:r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r>
              <a:rPr lang="en-US" b="1"/>
              <a:t>Learning outcome: Students will be introduced to the topic Design Thinking.</a:t>
            </a:r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9CDB7-E329-CB0C-39AB-3AC7E1A8B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25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4D8AC-D7EB-7BDB-1084-83AC77117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AF1DC3-98E6-7C3B-86DB-099D77CF1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B4D31-DCBC-14BB-E02F-EAFCAD095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AF935-E999-82B4-036C-A4AF6A677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72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AC8DF-C6CD-4928-1CA4-086D4550A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AD002-62F8-8916-593B-343E5F05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413043-DFE7-63A6-38A6-E5C26B8A1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B8DE7-C418-84FE-C67C-74B981A52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270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F9506-C131-2AF6-29D0-70FA31667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8DC8E4-9EC8-9053-EB93-6F6DD2F29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1D1FAE-0157-77E2-17BE-06C6C650F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duration: 5 min</a:t>
            </a:r>
            <a:endParaRPr lang="en-US"/>
          </a:p>
          <a:p>
            <a:endParaRPr lang="en-US" b="1"/>
          </a:p>
          <a:p>
            <a:r>
              <a:rPr lang="en-US" b="1"/>
              <a:t>Objective: To know the content of the lesson.</a:t>
            </a:r>
            <a:endParaRPr lang="en-US"/>
          </a:p>
          <a:p>
            <a:endParaRPr lang="en-US" b="1"/>
          </a:p>
          <a:p>
            <a:r>
              <a:rPr lang="en-US" b="1"/>
              <a:t>Procedure: </a:t>
            </a:r>
            <a:endParaRPr lang="en-US"/>
          </a:p>
          <a:p>
            <a:r>
              <a:rPr lang="en-US" b="1"/>
              <a:t>Tell students what they are going to learn today.</a:t>
            </a:r>
            <a:endParaRPr lang="en-US"/>
          </a:p>
          <a:p>
            <a:r>
              <a:rPr lang="en-US" b="1"/>
              <a:t>Discuss each topics given in the slide.</a:t>
            </a:r>
            <a:endParaRPr lang="en-US"/>
          </a:p>
          <a:p>
            <a:endParaRPr lang="en-US" b="1"/>
          </a:p>
          <a:p>
            <a:r>
              <a:rPr lang="en-US" b="1"/>
              <a:t>Learning Outcome: Students will get to know the content of today's lesson.</a:t>
            </a:r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FAA5B-2BE1-BDC2-9CC2-995FA82C7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012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4C7F5-F21B-DECC-F78B-E750E311F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DF32E1-B0F8-950E-7D68-215FAF2A4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0F6042-08C9-4092-7FAF-A2C3F478B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C91EB-67D2-C956-FCA2-A383DE41EB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687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65888-2BBD-BE64-9FA7-8AF1F5E02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E4F79C-68D0-6EA3-3E12-A518D83D2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E18665-CB16-50F7-C752-3BB7E7738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47D9C-2BDF-3806-C567-276D5552F2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041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7CC2A-D27F-A08C-A9F7-F097CBC8F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0D24A9-904E-EDBE-00A4-18754A244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D7F0F2-1B91-747F-AA12-4852DC4F1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C5A9D-BAC7-353F-EB58-8AF7CB512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3852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C3B37-E957-FF5C-2010-892346C77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B2A7C-31A2-F0CA-A496-0C4F82962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81AD3F-FB8D-7143-4B71-4EE10CA1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B922E-83A2-014C-DA79-4805012C8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19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31D5D-A06D-D42D-F2F2-A5ED0DA65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F5EE4F-7900-BB8B-9722-48FDE0720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F798C-3D03-E733-CAEA-D1FDE7165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8D04E-F33C-F197-E7F6-1C529EE3E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0709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duration: 5 min</a:t>
            </a:r>
            <a:endParaRPr lang="en-US"/>
          </a:p>
          <a:p>
            <a:endParaRPr lang="en-US" b="1"/>
          </a:p>
          <a:p>
            <a:r>
              <a:rPr lang="en-US" b="1"/>
              <a:t>Objective: To get clarity about the lesson is well received among students.</a:t>
            </a:r>
            <a:endParaRPr lang="en-US">
              <a:cs typeface="Calibri"/>
            </a:endParaRPr>
          </a:p>
          <a:p>
            <a:endParaRPr lang="en-US" b="1"/>
          </a:p>
          <a:p>
            <a:r>
              <a:rPr lang="en-US" b="1"/>
              <a:t>Procedure: </a:t>
            </a:r>
            <a:endParaRPr lang="en-US">
              <a:cs typeface="Calibri"/>
            </a:endParaRPr>
          </a:p>
          <a:p>
            <a:r>
              <a:rPr lang="en-US" b="1"/>
              <a:t>Ask: What did you learn from the lesson?</a:t>
            </a:r>
            <a:endParaRPr lang="en-US"/>
          </a:p>
          <a:p>
            <a:r>
              <a:rPr lang="en-US" b="1"/>
              <a:t>What is your takeaways from the lesson?</a:t>
            </a:r>
            <a:endParaRPr lang="en-US"/>
          </a:p>
          <a:p>
            <a:r>
              <a:rPr lang="en-US" b="1"/>
              <a:t>How this lesson is going to help you in your personal and professional life.</a:t>
            </a:r>
            <a:endParaRPr lang="en-US"/>
          </a:p>
          <a:p>
            <a:r>
              <a:rPr lang="en-US" b="1"/>
              <a:t>How are you going to implement this lesson?</a:t>
            </a:r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3140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Time: </a:t>
            </a:r>
            <a:r>
              <a:rPr lang="en-US"/>
              <a:t>25 to 30 Sec</a:t>
            </a: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943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7511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5948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248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9293970" y="1161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794A6F2-3958-82D4-6DD8-BEA23BC7CE0B}"/>
              </a:ext>
            </a:extLst>
          </p:cNvPr>
          <p:cNvSpPr/>
          <p:nvPr userDrawn="1"/>
        </p:nvSpPr>
        <p:spPr>
          <a:xfrm>
            <a:off x="7283428" y="62784"/>
            <a:ext cx="1109472" cy="584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BB0A9C-D4D0-4270-6567-BD2D62A37CB4}"/>
              </a:ext>
            </a:extLst>
          </p:cNvPr>
          <p:cNvSpPr/>
          <p:nvPr userDrawn="1"/>
        </p:nvSpPr>
        <p:spPr>
          <a:xfrm>
            <a:off x="-1" y="0"/>
            <a:ext cx="8791576" cy="695325"/>
          </a:xfrm>
          <a:prstGeom prst="rect">
            <a:avLst/>
          </a:prstGeom>
          <a:solidFill>
            <a:srgbClr val="2131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BC22728B-18F8-AEF3-8871-561E9C3737AF}"/>
              </a:ext>
            </a:extLst>
          </p:cNvPr>
          <p:cNvSpPr/>
          <p:nvPr userDrawn="1"/>
        </p:nvSpPr>
        <p:spPr>
          <a:xfrm rot="7879934">
            <a:off x="7704457" y="483903"/>
            <a:ext cx="1735808" cy="84454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yellow triangle with black background&#10;&#10;AI-generated content may be incorrect.">
            <a:extLst>
              <a:ext uri="{FF2B5EF4-FFF2-40B4-BE49-F238E27FC236}">
                <a16:creationId xmlns:a16="http://schemas.microsoft.com/office/drawing/2014/main" id="{F2EDF266-FEEE-64FB-9F87-7CC86D1F87E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74" b="43332"/>
          <a:stretch/>
        </p:blipFill>
        <p:spPr>
          <a:xfrm>
            <a:off x="11094195" y="-24407"/>
            <a:ext cx="1097805" cy="716023"/>
          </a:xfrm>
          <a:prstGeom prst="rect">
            <a:avLst/>
          </a:prstGeom>
        </p:spPr>
      </p:pic>
      <p:pic>
        <p:nvPicPr>
          <p:cNvPr id="2" name="Picture 1" descr="A yellow triangle with black background&#10;&#10;AI-generated content may be incorrect.">
            <a:extLst>
              <a:ext uri="{FF2B5EF4-FFF2-40B4-BE49-F238E27FC236}">
                <a16:creationId xmlns:a16="http://schemas.microsoft.com/office/drawing/2014/main" id="{C52E178C-685F-8F57-5EBE-891CADDA361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74" b="43332"/>
          <a:stretch/>
        </p:blipFill>
        <p:spPr>
          <a:xfrm flipH="1">
            <a:off x="0" y="6412587"/>
            <a:ext cx="682906" cy="445413"/>
          </a:xfrm>
          <a:prstGeom prst="rect">
            <a:avLst/>
          </a:prstGeom>
        </p:spPr>
      </p:pic>
    </p:spTree>
    <p:custDataLst>
      <p:tags r:id="rId5"/>
    </p:custDataLst>
    <p:extLst>
      <p:ext uri="{BB962C8B-B14F-4D97-AF65-F5344CB8AC3E}">
        <p14:creationId xmlns:p14="http://schemas.microsoft.com/office/powerpoint/2010/main" val="192577276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73" r:id="rId2"/>
    <p:sldLayoutId id="214748367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6.jpe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slide" Target="slide4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5" Type="http://schemas.openxmlformats.org/officeDocument/2006/relationships/hyperlink" Target="https://www.freepik.com/" TargetMode="Externa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ABFCA35-CBAC-B371-5A9D-16CEF40A5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 descr="Three circles each containing concentric circles.">
            <a:extLst>
              <a:ext uri="{FF2B5EF4-FFF2-40B4-BE49-F238E27FC236}">
                <a16:creationId xmlns:a16="http://schemas.microsoft.com/office/drawing/2014/main" id="{2BB9B87E-CCB4-1C05-BDD7-49BD2F4433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38915" y="-754580"/>
            <a:ext cx="6985841" cy="698584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BAFB906-E0C0-DE0E-8396-74F0D23A59D1}"/>
              </a:ext>
            </a:extLst>
          </p:cNvPr>
          <p:cNvSpPr/>
          <p:nvPr/>
        </p:nvSpPr>
        <p:spPr>
          <a:xfrm>
            <a:off x="0" y="1"/>
            <a:ext cx="2187103" cy="68579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0C1F04-2B40-4D2E-6A1F-0A6A0E0ECE7F}"/>
              </a:ext>
            </a:extLst>
          </p:cNvPr>
          <p:cNvSpPr/>
          <p:nvPr/>
        </p:nvSpPr>
        <p:spPr>
          <a:xfrm>
            <a:off x="6227605" y="1664587"/>
            <a:ext cx="361400" cy="3726175"/>
          </a:xfrm>
          <a:prstGeom prst="rect">
            <a:avLst/>
          </a:prstGeom>
          <a:solidFill>
            <a:srgbClr val="FFC5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Close-up of two people's hands pointing at laptop screen with stack of 4 books in background, one person holding a pen">
            <a:extLst>
              <a:ext uri="{FF2B5EF4-FFF2-40B4-BE49-F238E27FC236}">
                <a16:creationId xmlns:a16="http://schemas.microsoft.com/office/drawing/2014/main" id="{1753CBC7-1B60-ACAD-8449-1E02682C331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69" r="20650"/>
          <a:stretch/>
        </p:blipFill>
        <p:spPr>
          <a:xfrm flipH="1">
            <a:off x="564320" y="631080"/>
            <a:ext cx="5882641" cy="5735112"/>
          </a:xfrm>
          <a:prstGeom prst="rect">
            <a:avLst/>
          </a:prstGeom>
        </p:spPr>
      </p:pic>
      <p:pic>
        <p:nvPicPr>
          <p:cNvPr id="28" name="Picture 27" descr="A yellow sign with blue and black lines&#10;&#10;AI-generated content may be incorrect.">
            <a:extLst>
              <a:ext uri="{FF2B5EF4-FFF2-40B4-BE49-F238E27FC236}">
                <a16:creationId xmlns:a16="http://schemas.microsoft.com/office/drawing/2014/main" id="{A6445770-34AE-34D1-DF4B-2580AC1729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63231" y="619660"/>
            <a:ext cx="696004" cy="599966"/>
          </a:xfrm>
          <a:prstGeom prst="rect">
            <a:avLst/>
          </a:prstGeom>
        </p:spPr>
      </p:pic>
      <p:pic>
        <p:nvPicPr>
          <p:cNvPr id="29" name="Picture 28" descr="A close up of a logo&#10;&#10;AI-generated content may be incorrect.">
            <a:extLst>
              <a:ext uri="{FF2B5EF4-FFF2-40B4-BE49-F238E27FC236}">
                <a16:creationId xmlns:a16="http://schemas.microsoft.com/office/drawing/2014/main" id="{8F7F974D-2D1F-F052-896D-E000E0AF7B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5861" y="695122"/>
            <a:ext cx="1380636" cy="449042"/>
          </a:xfrm>
          <a:prstGeom prst="rect">
            <a:avLst/>
          </a:prstGeom>
        </p:spPr>
      </p:pic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9AEA9CBA-CAFF-3524-2EE2-27189059457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131" y="642644"/>
            <a:ext cx="838995" cy="553998"/>
          </a:xfrm>
          <a:prstGeom prst="rect">
            <a:avLst/>
          </a:prstGeom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6A8BFA17-ACF5-21DA-81BC-A9A793A30FE6}"/>
              </a:ext>
            </a:extLst>
          </p:cNvPr>
          <p:cNvSpPr txBox="1"/>
          <p:nvPr/>
        </p:nvSpPr>
        <p:spPr>
          <a:xfrm>
            <a:off x="7096146" y="1597491"/>
            <a:ext cx="4421469" cy="51267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3000" b="1" dirty="0">
                <a:solidFill>
                  <a:srgbClr val="213163"/>
                </a:solidFill>
              </a:rPr>
              <a:t>CodeTrust AI – Trust &amp; Verify AI-Generated Code 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15B0D1-B06C-3466-28E3-04DA70D1A6AD}"/>
              </a:ext>
            </a:extLst>
          </p:cNvPr>
          <p:cNvSpPr txBox="1"/>
          <p:nvPr/>
        </p:nvSpPr>
        <p:spPr>
          <a:xfrm>
            <a:off x="7040990" y="4193119"/>
            <a:ext cx="4748291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IN" dirty="0">
                <a:solidFill>
                  <a:srgbClr val="213163"/>
                </a:solidFill>
              </a:rPr>
              <a:t>Team Leader Name - Kruparani Tomar</a:t>
            </a:r>
          </a:p>
          <a:p>
            <a:pPr algn="l"/>
            <a:r>
              <a:rPr lang="en-IN" dirty="0">
                <a:solidFill>
                  <a:srgbClr val="213163"/>
                </a:solidFill>
              </a:rPr>
              <a:t>Team Member 1-  Shabbir Shaikh</a:t>
            </a:r>
          </a:p>
          <a:p>
            <a:pPr algn="l"/>
            <a:r>
              <a:rPr lang="en-IN" dirty="0">
                <a:solidFill>
                  <a:srgbClr val="213163"/>
                </a:solidFill>
              </a:rPr>
              <a:t>Team Member 2- Anjali Tripathi</a:t>
            </a:r>
          </a:p>
          <a:p>
            <a:pPr algn="l"/>
            <a:r>
              <a:rPr lang="en-IN" dirty="0">
                <a:solidFill>
                  <a:srgbClr val="213163"/>
                </a:solidFill>
              </a:rPr>
              <a:t>Team Member 3 – Samarth Parmar</a:t>
            </a:r>
          </a:p>
          <a:p>
            <a:pPr algn="l"/>
            <a:r>
              <a:rPr lang="en-IN" dirty="0">
                <a:solidFill>
                  <a:srgbClr val="213163"/>
                </a:solidFill>
              </a:rPr>
              <a:t>Team Member 4 – Sahil Shaikh</a:t>
            </a: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B282E5-EFA4-B42A-3002-A121095746EB}"/>
              </a:ext>
            </a:extLst>
          </p:cNvPr>
          <p:cNvSpPr txBox="1"/>
          <p:nvPr/>
        </p:nvSpPr>
        <p:spPr>
          <a:xfrm>
            <a:off x="7070131" y="5990723"/>
            <a:ext cx="4699247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600" i="1" dirty="0">
                <a:solidFill>
                  <a:srgbClr val="002060"/>
                </a:solidFill>
                <a:latin typeface="Times New Roman"/>
                <a:cs typeface="Times New Roman"/>
              </a:rPr>
              <a:t>Under the mentorship of,</a:t>
            </a:r>
          </a:p>
          <a:p>
            <a:r>
              <a:rPr lang="en-US" sz="1600" i="1" dirty="0">
                <a:solidFill>
                  <a:srgbClr val="002060"/>
                </a:solidFill>
                <a:latin typeface="Times New Roman"/>
                <a:cs typeface="Times New Roman"/>
              </a:rPr>
              <a:t>M</a:t>
            </a:r>
            <a:r>
              <a:rPr lang="en-IN" sz="1600" i="1" dirty="0">
                <a:solidFill>
                  <a:srgbClr val="002060"/>
                </a:solidFill>
                <a:latin typeface="Times New Roman"/>
                <a:cs typeface="Times New Roman"/>
              </a:rPr>
              <a:t>entor Name : Hiren Modha</a:t>
            </a:r>
            <a:r>
              <a:rPr lang="en-IN" i="1" dirty="0">
                <a:solidFill>
                  <a:srgbClr val="002060"/>
                </a:solidFill>
                <a:latin typeface="Times New Roman"/>
                <a:cs typeface="Times New Roman"/>
              </a:rPr>
              <a:t> 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7" name="TextShape 1">
            <a:extLst>
              <a:ext uri="{FF2B5EF4-FFF2-40B4-BE49-F238E27FC236}">
                <a16:creationId xmlns:a16="http://schemas.microsoft.com/office/drawing/2014/main" id="{67FAF34A-6BC6-A31A-2942-DC58DDD7543D}"/>
              </a:ext>
            </a:extLst>
          </p:cNvPr>
          <p:cNvSpPr txBox="1"/>
          <p:nvPr/>
        </p:nvSpPr>
        <p:spPr>
          <a:xfrm>
            <a:off x="7070131" y="2896024"/>
            <a:ext cx="3309283" cy="36374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200" dirty="0">
                <a:solidFill>
                  <a:srgbClr val="213163"/>
                </a:solidFill>
              </a:rPr>
              <a:t>Team ID -Team_13706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F410DA-0B5A-36C0-18E2-926FCDFD4CA7}"/>
              </a:ext>
            </a:extLst>
          </p:cNvPr>
          <p:cNvCxnSpPr/>
          <p:nvPr/>
        </p:nvCxnSpPr>
        <p:spPr>
          <a:xfrm>
            <a:off x="7153154" y="5822066"/>
            <a:ext cx="41437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946846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A3E36-C889-6CAE-02F7-A18A8F82B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19EE50-E52E-5394-C0FF-8E0F05CC60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200" b="1" dirty="0">
                <a:solidFill>
                  <a:srgbClr val="213163"/>
                </a:solidFill>
              </a:rPr>
              <a:t>Project overview - Introduction</a:t>
            </a:r>
            <a:endParaRPr lang="en-US" sz="2200" b="1" dirty="0">
              <a:solidFill>
                <a:srgbClr val="213163"/>
              </a:solidFill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B07E3F00-B8A1-E3E6-46F3-9CBDC445523A}"/>
              </a:ext>
            </a:extLst>
          </p:cNvPr>
          <p:cNvSpPr txBox="1"/>
          <p:nvPr/>
        </p:nvSpPr>
        <p:spPr>
          <a:xfrm>
            <a:off x="390525" y="1700654"/>
            <a:ext cx="11159791" cy="318035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CodeTrust AI is an intelligent security platform designed specifically to analyze AI-generated code.</a:t>
            </a:r>
          </a:p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automatically detects security vulnerabilities, identifies hallucinated or unreliable logic, and provides secure patch recommendations with clear explanations.</a:t>
            </a:r>
          </a:p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platform acts as a trust layer between AI code generation tools and software deployment pipelines.</a:t>
            </a:r>
          </a:p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CodeTrust AI integrates into developer workflows and CI/CD pipelines to ensure that AI-generated code is verified before reaching production.</a:t>
            </a:r>
          </a:p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vulnerability detection, hallucination-aware analysis, and explainable security fixes, CodeTrust AI helps developers build secure software without slowing down innovation.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19174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4A578-3B67-4E25-AD15-AC015FCB2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5F6041-A892-0BCB-55B1-A8BFBC7B38C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200" b="1" dirty="0">
                <a:solidFill>
                  <a:srgbClr val="213163"/>
                </a:solidFill>
              </a:rPr>
              <a:t>Problem Statement</a:t>
            </a:r>
            <a:endParaRPr lang="en-US" sz="2200" b="1" dirty="0">
              <a:solidFill>
                <a:srgbClr val="213163"/>
              </a:solidFill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F66CEC1E-D414-60D6-7258-4ACDA0654F65}"/>
              </a:ext>
            </a:extLst>
          </p:cNvPr>
          <p:cNvSpPr txBox="1"/>
          <p:nvPr/>
        </p:nvSpPr>
        <p:spPr>
          <a:xfrm>
            <a:off x="390525" y="1709372"/>
            <a:ext cx="6860507" cy="451405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coding tools are rapidly being adopted by developers to accelerate software development.</a:t>
            </a:r>
          </a:p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AI-generated code often contains hidden security vulnerabilities, unsafe logic, and hallucinated APIs.</a:t>
            </a:r>
          </a:p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security scanners are designed for human-written code and fail to evaluate AI-specific risks. </a:t>
            </a:r>
          </a:p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developers unknowingly deploy insecure AI-generated code into production systems, leading to security breaches, compliance risks, and increased remediation costs. </a:t>
            </a:r>
          </a:p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currently a lack of specialized tools that can automatically detect vulnerabilities in AI-generated code and provide secure, explainable fixes.</a:t>
            </a:r>
          </a:p>
          <a:p>
            <a:pPr algn="just">
              <a:spcAft>
                <a:spcPts val="800"/>
              </a:spcAft>
              <a:buSzPct val="100000"/>
              <a:tabLst>
                <a:tab pos="299085" algn="l"/>
              </a:tabLst>
            </a:pP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CD2581-4B01-48AC-2EFF-FBDB1DA9CF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032" y="1187450"/>
            <a:ext cx="4940968" cy="19244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C131E0-8FAF-7A9F-D6BF-70F16A1CEB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032" y="3149159"/>
            <a:ext cx="4940968" cy="12238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27B814-06CE-5B6D-021D-AE58993ED0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5411" y="4373022"/>
            <a:ext cx="4796589" cy="233188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17590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A245A-691C-D12E-AB45-1FE81D4A0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9DBE12-760F-6D5A-8CD1-F9B3A7E63139}"/>
              </a:ext>
            </a:extLst>
          </p:cNvPr>
          <p:cNvSpPr/>
          <p:nvPr/>
        </p:nvSpPr>
        <p:spPr>
          <a:xfrm>
            <a:off x="4053490" y="5351612"/>
            <a:ext cx="4876800" cy="8255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5D26F9D8-5390-EBFF-D1C6-1E8BFA87A1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4013" y="845438"/>
            <a:ext cx="2960627" cy="659796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5240">
              <a:spcBef>
                <a:spcPts val="105"/>
              </a:spcBef>
            </a:pPr>
            <a:r>
              <a:rPr lang="en-IN" sz="2200" spc="-10" dirty="0">
                <a:solidFill>
                  <a:srgbClr val="001F5F"/>
                </a:solidFill>
              </a:rPr>
              <a:t>Project Objectives</a:t>
            </a:r>
            <a:br>
              <a:rPr lang="en-IN" dirty="0"/>
            </a:br>
            <a:endParaRPr 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4BEAD1C-D4EE-217C-7DA3-DC537039DFC5}"/>
              </a:ext>
            </a:extLst>
          </p:cNvPr>
          <p:cNvSpPr txBox="1"/>
          <p:nvPr/>
        </p:nvSpPr>
        <p:spPr>
          <a:xfrm>
            <a:off x="485343" y="1798400"/>
            <a:ext cx="5610657" cy="348813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3464" indent="-283464" algn="just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identify security vulnerabilities in AI-generated code. </a:t>
            </a:r>
          </a:p>
          <a:p>
            <a:pPr marL="283464" indent="-283464" algn="just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detect hallucinated APIs, unsafe logic, and insecure coding patterns.</a:t>
            </a:r>
          </a:p>
          <a:p>
            <a:pPr marL="283464" indent="-283464" algn="just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provide explainable risk analysis and secure patch recommendations.</a:t>
            </a:r>
          </a:p>
          <a:p>
            <a:pPr marL="283464" indent="-283464" algn="just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help developers verify AI-generated code before deployment.</a:t>
            </a:r>
          </a:p>
          <a:p>
            <a:pPr marL="283464" indent="-283464" algn="just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improve trust, security, and reliability in AI-assisted software development</a:t>
            </a:r>
            <a:endParaRPr sz="2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 descr="A blue arrow hitting a yellow and white target&#10;&#10;AI-generated content may be incorrect.">
            <a:extLst>
              <a:ext uri="{FF2B5EF4-FFF2-40B4-BE49-F238E27FC236}">
                <a16:creationId xmlns:a16="http://schemas.microsoft.com/office/drawing/2014/main" id="{D6C15AD9-CCF7-5E54-7691-52E46C42C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4333" y="1794076"/>
            <a:ext cx="4038896" cy="31140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2A6685-464E-7EA4-55C6-EF702F7541D2}"/>
              </a:ext>
            </a:extLst>
          </p:cNvPr>
          <p:cNvSpPr txBox="1"/>
          <p:nvPr/>
        </p:nvSpPr>
        <p:spPr>
          <a:xfrm>
            <a:off x="5427949" y="5579700"/>
            <a:ext cx="7716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5" action="ppaction://hlinksldjump"/>
              </a:rPr>
              <a:t>https://youtu.be/Q6-LZUxMPIc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A54C12-1E6B-5A77-C78F-685062FA5484}"/>
              </a:ext>
            </a:extLst>
          </p:cNvPr>
          <p:cNvSpPr txBox="1"/>
          <p:nvPr/>
        </p:nvSpPr>
        <p:spPr>
          <a:xfrm>
            <a:off x="4053490" y="5579700"/>
            <a:ext cx="2524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Link:-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9056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FCB28-E1BC-9383-90D6-1F93714F2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931B7F-A4E2-1DA5-2BAF-AB2F7EB3A4A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 dirty="0">
                <a:solidFill>
                  <a:srgbClr val="213163"/>
                </a:solidFill>
              </a:rPr>
              <a:t>End </a:t>
            </a:r>
            <a:r>
              <a:rPr lang="en-IN" sz="2200" b="1" dirty="0">
                <a:solidFill>
                  <a:srgbClr val="213163"/>
                </a:solidFill>
              </a:rPr>
              <a:t>User</a:t>
            </a:r>
            <a:endParaRPr lang="en-US" sz="2200" b="1" dirty="0">
              <a:solidFill>
                <a:srgbClr val="213163"/>
              </a:solidFill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6938976A-48BF-02EA-7BFA-5075C8725DD1}"/>
              </a:ext>
            </a:extLst>
          </p:cNvPr>
          <p:cNvSpPr txBox="1"/>
          <p:nvPr/>
        </p:nvSpPr>
        <p:spPr>
          <a:xfrm>
            <a:off x="485343" y="1443981"/>
            <a:ext cx="7199508" cy="276998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Developers using AI coding assistants</a:t>
            </a:r>
          </a:p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Startup Engineering Teams</a:t>
            </a:r>
          </a:p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Development Teams</a:t>
            </a:r>
          </a:p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DevSecOps Engineers</a:t>
            </a:r>
          </a:p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Teams</a:t>
            </a:r>
          </a:p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and Regulated Organizations</a:t>
            </a:r>
          </a:p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SaaS Product Developers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2515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80328-9DEC-91B4-3E4D-19BF7239A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73B39E-642F-E67D-C1F9-30D3693DA4F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 dirty="0">
                <a:solidFill>
                  <a:srgbClr val="213163"/>
                </a:solidFill>
              </a:rPr>
              <a:t>Wow factor</a:t>
            </a:r>
            <a:endParaRPr lang="en-US" sz="2000" b="1" dirty="0">
              <a:solidFill>
                <a:srgbClr val="21316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686D56-ECB0-9C30-4FA7-7144DEC39B49}"/>
              </a:ext>
            </a:extLst>
          </p:cNvPr>
          <p:cNvSpPr txBox="1"/>
          <p:nvPr/>
        </p:nvSpPr>
        <p:spPr>
          <a:xfrm>
            <a:off x="485342" y="1443981"/>
            <a:ext cx="514543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First-of-its-kind platform focused specifically on AI-generated code security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AI hallucinations, not just traditional vulnerabilities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explainable secure patches, not only alerts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Works as a trust layer for AI coding tools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analysis integrated into developer workflows* Bridges the gap between AI speed and software security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315663-C2B2-AE43-B030-5B02D4AE45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1621" y="1443981"/>
            <a:ext cx="5883374" cy="479639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0864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01452-FA8D-AA15-4D87-4F0202D68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422110-826C-E4F6-C918-6761F34D0D2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200" b="1" dirty="0">
                <a:solidFill>
                  <a:srgbClr val="213163"/>
                </a:solidFill>
              </a:rPr>
              <a:t>Modelling</a:t>
            </a:r>
            <a:endParaRPr lang="en-US" sz="2200" b="1" dirty="0">
              <a:solidFill>
                <a:srgbClr val="213163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8CDDE9-4DD6-A3C8-76AD-12AF2F411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1916" y="1187449"/>
            <a:ext cx="8021052" cy="54840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78321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166CA-7EF4-D794-8356-B220A245D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AFABD4-7DC8-378D-DE0F-D1EE5042A49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 dirty="0">
                <a:solidFill>
                  <a:srgbClr val="213163"/>
                </a:solidFill>
              </a:rPr>
              <a:t>Result / </a:t>
            </a:r>
            <a:r>
              <a:rPr lang="en-IN" sz="2200" b="1" dirty="0">
                <a:solidFill>
                  <a:srgbClr val="213163"/>
                </a:solidFill>
              </a:rPr>
              <a:t>Outcomes</a:t>
            </a:r>
            <a:endParaRPr lang="en-US" sz="2200" b="1" dirty="0">
              <a:solidFill>
                <a:srgbClr val="21316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A9569A-F2B9-02F0-3A84-25595CEBE0AE}"/>
              </a:ext>
            </a:extLst>
          </p:cNvPr>
          <p:cNvSpPr txBox="1"/>
          <p:nvPr/>
        </p:nvSpPr>
        <p:spPr>
          <a:xfrm>
            <a:off x="390525" y="1572995"/>
            <a:ext cx="583381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detection of common vulnerabilities such as SQL Injection, XSS, and insecure logic.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Identification of hallucinated APIs and unsafe AI assumptions.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of secure, OWASP-compliant patch recommendations.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code review effort.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security confidence for AI-generated code. Working prototype demonstrating real-time AI code verification.</a:t>
            </a:r>
          </a:p>
        </p:txBody>
      </p:sp>
      <p:pic>
        <p:nvPicPr>
          <p:cNvPr id="6" name="Picture 2" descr="PlantUML diagram">
            <a:extLst>
              <a:ext uri="{FF2B5EF4-FFF2-40B4-BE49-F238E27FC236}">
                <a16:creationId xmlns:a16="http://schemas.microsoft.com/office/drawing/2014/main" id="{C30A1472-56D7-5B51-5642-F201FADBA0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34"/>
          <a:stretch>
            <a:fillRect/>
          </a:stretch>
        </p:blipFill>
        <p:spPr bwMode="auto">
          <a:xfrm>
            <a:off x="7282286" y="1000919"/>
            <a:ext cx="3980101" cy="5746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15693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C25FE-D71F-ADEB-C5B8-82E970731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2E9217-CBBF-B96E-4814-1E879FAE64A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9385" y="1071342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 dirty="0">
                <a:solidFill>
                  <a:srgbClr val="213163"/>
                </a:solidFill>
              </a:rPr>
              <a:t>Future Perspective</a:t>
            </a:r>
            <a:endParaRPr lang="en-US" sz="2200" b="1" dirty="0">
              <a:solidFill>
                <a:srgbClr val="213163"/>
              </a:solidFill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E60DEBBB-AD2B-766E-32FE-AB5BCF243F01}"/>
              </a:ext>
            </a:extLst>
          </p:cNvPr>
          <p:cNvSpPr txBox="1"/>
          <p:nvPr/>
        </p:nvSpPr>
        <p:spPr>
          <a:xfrm>
            <a:off x="396738" y="1718655"/>
            <a:ext cx="7199508" cy="276998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3464" indent="-283464" algn="just"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 extensions for VS Code and JetBrains</a:t>
            </a:r>
          </a:p>
          <a:p>
            <a:pPr marL="283464" indent="-283464" algn="just"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scanning during AI code generation</a:t>
            </a:r>
          </a:p>
          <a:p>
            <a:pPr marL="283464" indent="-283464" algn="just"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code support</a:t>
            </a:r>
          </a:p>
          <a:p>
            <a:pPr marL="283464" indent="-283464" algn="just"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compliance and audit reporting</a:t>
            </a:r>
          </a:p>
          <a:p>
            <a:pPr marL="283464" indent="-283464" algn="just"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Blockchain-based tamper-proof security reports</a:t>
            </a:r>
          </a:p>
          <a:p>
            <a:pPr marL="283464" indent="-283464" algn="just"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popular AI coding platforms</a:t>
            </a:r>
          </a:p>
          <a:p>
            <a:pPr marL="283464" indent="-283464" algn="just"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governance and policy enforcement features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2943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68077044-2447-F20F-732E-F59B0876B1BE}"/>
              </a:ext>
            </a:extLst>
          </p:cNvPr>
          <p:cNvSpPr txBox="1"/>
          <p:nvPr/>
        </p:nvSpPr>
        <p:spPr>
          <a:xfrm>
            <a:off x="331183" y="927350"/>
            <a:ext cx="5904091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200" b="1" dirty="0">
                <a:solidFill>
                  <a:srgbClr val="213163"/>
                </a:solidFill>
                <a:latin typeface="+mj-lt"/>
              </a:rPr>
              <a:t>Conclusion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A06B000-237D-0FED-3FF0-5FE978FF8E88}"/>
              </a:ext>
            </a:extLst>
          </p:cNvPr>
          <p:cNvGrpSpPr/>
          <p:nvPr/>
        </p:nvGrpSpPr>
        <p:grpSpPr>
          <a:xfrm>
            <a:off x="6877050" y="1711251"/>
            <a:ext cx="5200650" cy="3743899"/>
            <a:chOff x="6226629" y="1485900"/>
            <a:chExt cx="5965371" cy="4294414"/>
          </a:xfrm>
        </p:grpSpPr>
        <p:pic>
          <p:nvPicPr>
            <p:cNvPr id="3" name="Picture 2" descr="A hand touching a magnifying glass over a clipboard&#10;&#10;AI-generated content may be incorrect.">
              <a:extLst>
                <a:ext uri="{FF2B5EF4-FFF2-40B4-BE49-F238E27FC236}">
                  <a16:creationId xmlns:a16="http://schemas.microsoft.com/office/drawing/2014/main" id="{D2150545-F4E6-B1E8-2BA5-178321AE9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183"/>
            <a:stretch/>
          </p:blipFill>
          <p:spPr>
            <a:xfrm>
              <a:off x="6400207" y="1485900"/>
              <a:ext cx="5448944" cy="4283529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3498800-1547-FF45-1083-10EDB6755288}"/>
                </a:ext>
              </a:extLst>
            </p:cNvPr>
            <p:cNvCxnSpPr/>
            <p:nvPr/>
          </p:nvCxnSpPr>
          <p:spPr>
            <a:xfrm>
              <a:off x="6226629" y="5780314"/>
              <a:ext cx="5965371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" name="object 3">
            <a:extLst>
              <a:ext uri="{FF2B5EF4-FFF2-40B4-BE49-F238E27FC236}">
                <a16:creationId xmlns:a16="http://schemas.microsoft.com/office/drawing/2014/main" id="{7357E5D4-E88F-37E5-74E7-633F944B11CE}"/>
              </a:ext>
            </a:extLst>
          </p:cNvPr>
          <p:cNvSpPr txBox="1"/>
          <p:nvPr/>
        </p:nvSpPr>
        <p:spPr>
          <a:xfrm>
            <a:off x="485343" y="1434252"/>
            <a:ext cx="6391707" cy="276998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342900" indent="-342900" algn="just">
              <a:spcAft>
                <a:spcPts val="800"/>
              </a:spcAft>
              <a:buSzPct val="100000"/>
              <a:buFont typeface="Wingdings" panose="05000000000000000000" pitchFamily="2" charset="2"/>
              <a:buChar char="ü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CodeTrust AI addresses a critical gap in modern software development by securing AI-generated code. As AI coding tools become mainstream, security risks increase silently. CodeTrust AI ensures that innovation does not compromise security by providing automated vulnerability detection, hallucination-aware analysis, and explainable secure fixes. The platform strengthens developer trust in AI-generated code and promotes responsible AI adoption in real-world software systems.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898C442-216F-0AFF-7F38-7D870EA0918B}"/>
              </a:ext>
            </a:extLst>
          </p:cNvPr>
          <p:cNvGrpSpPr/>
          <p:nvPr/>
        </p:nvGrpSpPr>
        <p:grpSpPr>
          <a:xfrm>
            <a:off x="-19050" y="6076948"/>
            <a:ext cx="12220575" cy="556903"/>
            <a:chOff x="-19050" y="6076948"/>
            <a:chExt cx="12220575" cy="55690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F386A49-2AFF-C581-4F70-D6CF61537C07}"/>
                </a:ext>
              </a:extLst>
            </p:cNvPr>
            <p:cNvSpPr txBox="1"/>
            <p:nvPr/>
          </p:nvSpPr>
          <p:spPr>
            <a:xfrm>
              <a:off x="397378" y="6372241"/>
              <a:ext cx="106465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>
                  <a:solidFill>
                    <a:srgbClr val="3333FF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https://www.freepik.com/</a:t>
              </a:r>
              <a:endParaRPr lang="en-US" sz="11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2C3D488-31F2-374D-B1E9-85C3F7A3279B}"/>
                </a:ext>
              </a:extLst>
            </p:cNvPr>
            <p:cNvGrpSpPr/>
            <p:nvPr/>
          </p:nvGrpSpPr>
          <p:grpSpPr>
            <a:xfrm>
              <a:off x="-19050" y="6076948"/>
              <a:ext cx="12220575" cy="307777"/>
              <a:chOff x="-19050" y="6076948"/>
              <a:chExt cx="12220575" cy="307777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95B5C3-B614-18BE-1656-AF0EE581E443}"/>
                  </a:ext>
                </a:extLst>
              </p:cNvPr>
              <p:cNvSpPr txBox="1"/>
              <p:nvPr/>
            </p:nvSpPr>
            <p:spPr>
              <a:xfrm>
                <a:off x="5704996" y="6076948"/>
                <a:ext cx="79220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b="1"/>
                  <a:t>Source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994F08D-DCBE-2424-B4B5-ADEDA76E75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06726" y="6229350"/>
                <a:ext cx="5694799" cy="14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A8BF57D1-795B-C082-EBF5-FAD6861103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9050" y="6229350"/>
                <a:ext cx="5657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61;g5fab984687_2_0">
            <a:extLst>
              <a:ext uri="{FF2B5EF4-FFF2-40B4-BE49-F238E27FC236}">
                <a16:creationId xmlns:a16="http://schemas.microsoft.com/office/drawing/2014/main" id="{56731104-94CD-C847-F7D6-086A88BE5722}"/>
              </a:ext>
            </a:extLst>
          </p:cNvPr>
          <p:cNvSpPr txBox="1">
            <a:spLocks/>
          </p:cNvSpPr>
          <p:nvPr/>
        </p:nvSpPr>
        <p:spPr>
          <a:xfrm>
            <a:off x="4315206" y="2985962"/>
            <a:ext cx="3561588" cy="98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5000" b="1">
                <a:solidFill>
                  <a:srgbClr val="213163"/>
                </a:solidFill>
              </a:rPr>
              <a:t>Thank You</a:t>
            </a:r>
            <a:endParaRPr lang="en-US" sz="50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SIMPLE LIGHT" val="AC31ARkz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1215</Words>
  <Application>Microsoft Office PowerPoint</Application>
  <PresentationFormat>Widescreen</PresentationFormat>
  <Paragraphs>167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Simple Light</vt:lpstr>
      <vt:lpstr>PowerPoint Presentation</vt:lpstr>
      <vt:lpstr>Project overview - Introduction</vt:lpstr>
      <vt:lpstr>Problem Statement</vt:lpstr>
      <vt:lpstr>Project Objectives </vt:lpstr>
      <vt:lpstr>End User</vt:lpstr>
      <vt:lpstr>Wow factor</vt:lpstr>
      <vt:lpstr>Modelling</vt:lpstr>
      <vt:lpstr>Result / Outcomes</vt:lpstr>
      <vt:lpstr>Future Perspective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slide</dc:title>
  <dc:creator>Mohd Kaisar</dc:creator>
  <cp:lastModifiedBy>krupa tomar</cp:lastModifiedBy>
  <cp:revision>32</cp:revision>
  <dcterms:created xsi:type="dcterms:W3CDTF">2024-06-24T09:04:39Z</dcterms:created>
  <dcterms:modified xsi:type="dcterms:W3CDTF">2026-02-23T10:56:12Z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2024-05-23T00:00:00Z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2024-06-24T00:00:00Z</vt:filetime>
  </property>
  <property fmtid="{D5CDD505-2E9C-101B-9397-08002B2CF9AE}" pid="5" name="Producer">
    <vt:lpwstr>Microsoft® PowerPoint® 2021</vt:lpwstr>
  </property>
  <property fmtid="{D5CDD505-2E9C-101B-9397-08002B2CF9AE}" pid="6" name="ArticulateGUID">
    <vt:lpwstr>FA72309D-1D09-49B1-8354-C196AEFF1A13</vt:lpwstr>
  </property>
  <property fmtid="{D5CDD505-2E9C-101B-9397-08002B2CF9AE}" pid="7" name="ArticulatePath">
    <vt:lpwstr>https://edunetfoundationorg-my.sharepoint.com/personal/kaisar_edunetfoundation_org/Documents/Beutified ppt/Code Unnati/Sample 2025/PPT Design Template</vt:lpwstr>
  </property>
</Properties>
</file>